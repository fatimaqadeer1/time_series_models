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03T07:02:52.579" idx="1">
    <p:pos x="1031" y="2468"/>
    <p:text/>
    <p:extLst>
      <p:ext uri="{C676402C-5697-4E1C-873F-D02D1690AC5C}">
        <p15:threadingInfo xmlns:p15="http://schemas.microsoft.com/office/powerpoint/2012/main" timeZoneBias="-30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42A7F2-FCAF-4027-A6B6-D4DA0DE1C08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A5E8CB-7CCF-4F87-88DE-335AFC693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71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16C97-CBA9-4503-9E82-227221CE65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3158" y="616017"/>
            <a:ext cx="10366408" cy="3769714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Series Models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 → MA → ARMA → ARIMA → SARIMA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DE54D9-CA54-4543-B87E-C348A6400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7764" y="4472358"/>
            <a:ext cx="7197726" cy="1405467"/>
          </a:xfrm>
        </p:spPr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(with Energy Forecasting Example)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57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A18D-2996-4543-ABCD-23194EE46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Problem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A8E6E4A-FCD5-4E8E-A663-B734DFEA97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1829249"/>
            <a:ext cx="10826014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real-world data values change over time such as electricity usage, temperature, sales, and stock prices.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b="1" i="1" u="sng" dirty="0">
                <a:latin typeface="Arial" panose="020B0604020202020204" pitchFamily="34" charset="0"/>
              </a:rPr>
              <a:t>T</a:t>
            </a:r>
            <a:r>
              <a:rPr kumimoji="0" lang="en-US" altLang="en-US" sz="2400" b="1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ime Series Forecasting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Predicting future values from past observations is called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series forecasting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Hourly electricity usage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sales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778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A8A57-2B31-4C35-9A69-355E7EB2D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err="1"/>
              <a:t>AutoRegressive</a:t>
            </a:r>
            <a:r>
              <a:rPr lang="en-US" sz="4000" b="1" dirty="0"/>
              <a:t> (AR) MODEL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214972-B3D1-4E8D-B02A-9E86E77544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1654864"/>
            <a:ext cx="10595007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first idea was simple: today’s value depends on yesterday’s value.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Usage:</a:t>
            </a:r>
            <a:endParaRPr kumimoji="0" lang="en-US" altLang="en-US" sz="24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Short-term forecasting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Stable systems -&gt;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Pros:</a:t>
            </a:r>
            <a:endParaRPr kumimoji="0" lang="en-US" altLang="en-US" sz="24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to understand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Cons:</a:t>
            </a:r>
            <a:endParaRPr kumimoji="0" lang="en-US" altLang="en-US" sz="24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Cannot handle trends (</a:t>
            </a:r>
            <a:r>
              <a:rPr lang="en-US" sz="2400" b="1" dirty="0"/>
              <a:t>long-term direction</a:t>
            </a:r>
            <a:r>
              <a:rPr lang="en-US" sz="2400" dirty="0"/>
              <a:t> of the data.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Cannot handle seasonality  (</a:t>
            </a:r>
            <a:r>
              <a:rPr lang="en-US" sz="2400" dirty="0"/>
              <a:t>pattern that </a:t>
            </a:r>
            <a:r>
              <a:rPr lang="en-US" sz="2400" b="1" dirty="0"/>
              <a:t>repeats at fixed intervals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796F2F-B1D4-4DC3-A532-64EBB2EE1705}"/>
              </a:ext>
            </a:extLst>
          </p:cNvPr>
          <p:cNvSpPr txBox="1"/>
          <p:nvPr/>
        </p:nvSpPr>
        <p:spPr>
          <a:xfrm>
            <a:off x="7180446" y="2772076"/>
            <a:ext cx="40233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stable system</a:t>
            </a:r>
            <a:r>
              <a:rPr lang="en-US" dirty="0"/>
              <a:t> is one where: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Mean stays constant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long-term growth or decline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Fluctuates around same level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u="sng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Indoor temperature with AC on</a:t>
            </a:r>
          </a:p>
        </p:txBody>
      </p:sp>
    </p:spTree>
    <p:extLst>
      <p:ext uri="{BB962C8B-B14F-4D97-AF65-F5344CB8AC3E}">
        <p14:creationId xmlns:p14="http://schemas.microsoft.com/office/powerpoint/2010/main" val="2674586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E0357-E55E-4C5B-ADBB-5AFCB956C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 — Moving Average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C3D8B-570B-4945-BBEC-1BCB2334F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402502" cy="3941099"/>
          </a:xfrm>
        </p:spPr>
        <p:txBody>
          <a:bodyPr>
            <a:normAutofit fontScale="25000" lnSpcReduction="20000"/>
          </a:bodyPr>
          <a:lstStyle/>
          <a:p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“Instead of using past values, MA models use past prediction errors to correct future predictions.”</a:t>
            </a:r>
          </a:p>
          <a:p>
            <a:endParaRPr lang="en-US" sz="9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9600" b="1" u="sng" dirty="0">
                <a:latin typeface="Arial" panose="020B0604020202020204" pitchFamily="34" charset="0"/>
                <a:cs typeface="Arial" panose="020B0604020202020204" pitchFamily="34" charset="0"/>
              </a:rPr>
              <a:t>Pros: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Handles sudden shocks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Smooths noise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9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9600" b="1" u="sng" dirty="0">
                <a:latin typeface="Arial" panose="020B0604020202020204" pitchFamily="34" charset="0"/>
                <a:cs typeface="Arial" panose="020B0604020202020204" pitchFamily="34" charset="0"/>
              </a:rPr>
              <a:t>Cons: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Still no trend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Still no seasonality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9A9071-8F7F-48D4-8CBD-468659E6F548}"/>
              </a:ext>
            </a:extLst>
          </p:cNvPr>
          <p:cNvSpPr txBox="1"/>
          <p:nvPr/>
        </p:nvSpPr>
        <p:spPr>
          <a:xfrm>
            <a:off x="8046719" y="3176337"/>
            <a:ext cx="27705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Prediction error:</a:t>
            </a:r>
          </a:p>
          <a:p>
            <a:endParaRPr lang="en-US" dirty="0"/>
          </a:p>
          <a:p>
            <a:r>
              <a:rPr lang="en-US" dirty="0"/>
              <a:t>Error = Actual − Predicted</a:t>
            </a:r>
          </a:p>
        </p:txBody>
      </p:sp>
    </p:spTree>
    <p:extLst>
      <p:ext uri="{BB962C8B-B14F-4D97-AF65-F5344CB8AC3E}">
        <p14:creationId xmlns:p14="http://schemas.microsoft.com/office/powerpoint/2010/main" val="3323582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473C4-9092-4FA7-957F-4797187D4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ARMA — Combining strengths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733BA6-42C1-48CB-AFC7-A37DDC4A67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1889141"/>
            <a:ext cx="947374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 + MA = ARMA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“ARMA combines the memory of AR and the error correction of MA.”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Usage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Short-term stationary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accurate than AR or MA alone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 (Big limitation):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❌ Data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must be stationary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71114-EFA9-4CBC-BA35-688EE49CF45A}"/>
              </a:ext>
            </a:extLst>
          </p:cNvPr>
          <p:cNvSpPr txBox="1"/>
          <p:nvPr/>
        </p:nvSpPr>
        <p:spPr>
          <a:xfrm>
            <a:off x="7729086" y="3234088"/>
            <a:ext cx="2849078" cy="1684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8494E9-791D-4DDB-97E1-ABB02249A244}"/>
              </a:ext>
            </a:extLst>
          </p:cNvPr>
          <p:cNvSpPr txBox="1"/>
          <p:nvPr/>
        </p:nvSpPr>
        <p:spPr>
          <a:xfrm>
            <a:off x="6997566" y="3429000"/>
            <a:ext cx="37153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time series is </a:t>
            </a:r>
            <a:r>
              <a:rPr lang="en-US" b="1" dirty="0"/>
              <a:t>stationary</a:t>
            </a:r>
            <a:r>
              <a:rPr lang="en-US" dirty="0"/>
              <a:t> if: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Mean is constant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Variance is constant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trend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6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DFC4B-BFB3-48DF-92AA-3E6909B93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problem of stationarity</a:t>
            </a:r>
            <a:b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8583CE-E35B-4DBB-8C67-E717CC788F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258473"/>
            <a:ext cx="923842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ARMA fails in real life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“Most real-world data has trends electricity usage grows over time.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ARMA fails because it assumes constant mean and variance.”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 introduced: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Differencing  (</a:t>
            </a:r>
            <a:r>
              <a:rPr lang="en-US" sz="2400" dirty="0"/>
              <a:t>Subtract previous value from current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203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59E0F-1635-430F-8DF0-C8C46C733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ARIMA — Adding Trend Handling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FF0F6D5-3531-43B4-8C56-A3FEDB6C87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1612144"/>
            <a:ext cx="8586646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ARIMA (p, d, q)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“ARIMA adds differencing to remove trends and make the data stationary.”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each term means: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past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differencing (trend removal)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past errors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trend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 on real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❌ Still cannot handle seasonality</a:t>
            </a:r>
          </a:p>
        </p:txBody>
      </p:sp>
    </p:spTree>
    <p:extLst>
      <p:ext uri="{BB962C8B-B14F-4D97-AF65-F5344CB8AC3E}">
        <p14:creationId xmlns:p14="http://schemas.microsoft.com/office/powerpoint/2010/main" val="10449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FB836-7BD7-432B-A4F6-C7DD08D2A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seasonality matters</a:t>
            </a:r>
            <a:b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419ABD-6377-4040-804A-9A3930C8AE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304640"/>
            <a:ext cx="7156959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to say: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“Many datasets repeat patterns: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Electricity usage repeats daily, sales repeat yearly.”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Summer AC usage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Weekend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892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AD3EE-7DFC-4984-9768-9F71C4869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SARIMA — Final Evolution ⭐</a:t>
            </a:r>
            <a:b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B01000-E75A-4A2B-8ADE-209F778313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1381311"/>
            <a:ext cx="9341340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Seasonal ARIMA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“SARIMA extends ARIMA by explicitly modeling seasonal patterns.”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form: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SARIMA(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p,d,q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)(P,D,Q,s)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SARIMA(1,1,1)(1,1,1,24)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Learns hourly behavior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Learns daily cycle (24 hours)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CF019BE-53FD-46A5-96B2-B10739C02A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095394"/>
              </p:ext>
            </p:extLst>
          </p:nvPr>
        </p:nvGraphicFramePr>
        <p:xfrm>
          <a:off x="9080629" y="3359217"/>
          <a:ext cx="2425570" cy="2487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803">
                  <a:extLst>
                    <a:ext uri="{9D8B030D-6E8A-4147-A177-3AD203B41FA5}">
                      <a16:colId xmlns:a16="http://schemas.microsoft.com/office/drawing/2014/main" val="2011798890"/>
                    </a:ext>
                  </a:extLst>
                </a:gridCol>
                <a:gridCol w="1968767">
                  <a:extLst>
                    <a:ext uri="{9D8B030D-6E8A-4147-A177-3AD203B41FA5}">
                      <a16:colId xmlns:a16="http://schemas.microsoft.com/office/drawing/2014/main" val="4232814973"/>
                    </a:ext>
                  </a:extLst>
                </a:gridCol>
              </a:tblGrid>
              <a:tr h="51027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PDQS SARIMA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7780114"/>
                  </a:ext>
                </a:extLst>
              </a:tr>
              <a:tr h="493463">
                <a:tc>
                  <a:txBody>
                    <a:bodyPr/>
                    <a:lstStyle/>
                    <a:p>
                      <a:r>
                        <a:rPr lang="en-US" sz="140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Seasonal 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6295320"/>
                  </a:ext>
                </a:extLst>
              </a:tr>
              <a:tr h="555552">
                <a:tc>
                  <a:txBody>
                    <a:bodyPr/>
                    <a:lstStyle/>
                    <a:p>
                      <a:r>
                        <a:rPr lang="en-US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Seasonal differencing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8364278"/>
                  </a:ext>
                </a:extLst>
              </a:tr>
              <a:tr h="493463">
                <a:tc>
                  <a:txBody>
                    <a:bodyPr/>
                    <a:lstStyle/>
                    <a:p>
                      <a:r>
                        <a:rPr lang="en-US" sz="140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Seasonal 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6957173"/>
                  </a:ext>
                </a:extLst>
              </a:tr>
              <a:tr h="435173">
                <a:tc>
                  <a:txBody>
                    <a:bodyPr/>
                    <a:lstStyle/>
                    <a:p>
                      <a:r>
                        <a:rPr lang="en-US" sz="1400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Season length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62039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10B349D-836F-4630-9429-BD7D1C109C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675764"/>
              </p:ext>
            </p:extLst>
          </p:nvPr>
        </p:nvGraphicFramePr>
        <p:xfrm>
          <a:off x="5457152" y="3936198"/>
          <a:ext cx="331002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509">
                  <a:extLst>
                    <a:ext uri="{9D8B030D-6E8A-4147-A177-3AD203B41FA5}">
                      <a16:colId xmlns:a16="http://schemas.microsoft.com/office/drawing/2014/main" val="2355027527"/>
                    </a:ext>
                  </a:extLst>
                </a:gridCol>
                <a:gridCol w="3063512">
                  <a:extLst>
                    <a:ext uri="{9D8B030D-6E8A-4147-A177-3AD203B41FA5}">
                      <a16:colId xmlns:a16="http://schemas.microsoft.com/office/drawing/2014/main" val="37460820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ARIMA pdq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234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Number of past values (AR)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7449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Number of differences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6447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Number of past errors (MA)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0999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7918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1B85A-728D-49E2-95EE-779BE380E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SARIMA is used for Energy Forecasting</a:t>
            </a:r>
            <a:b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0DAAB15-E8A3-4D49-AED2-F73A7E689E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350807"/>
            <a:ext cx="10368544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“Energy usage depends on past hours, trends, and strong daily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which SARIMA models very well.”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it fits: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dependency ✔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Seasonality ✔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Trend ✔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256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5BBB7-7347-45F9-B8A1-513FB8305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Practical Example </a:t>
            </a:r>
            <a:b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ABF530-B501-463C-BCD5-14FF2352CA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728435"/>
            <a:ext cx="873251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Collected 1 year hourly energy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Trained SARIMA on 90%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Tested on remaining 10%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Forecasted next 1 year (8760 hours)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Key code line to mention: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future_forecast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model_fit.forecast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(steps=8760)</a:t>
            </a:r>
          </a:p>
        </p:txBody>
      </p:sp>
    </p:spTree>
    <p:extLst>
      <p:ext uri="{BB962C8B-B14F-4D97-AF65-F5344CB8AC3E}">
        <p14:creationId xmlns:p14="http://schemas.microsoft.com/office/powerpoint/2010/main" val="471535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{B79E81DE-7B48-40E6-9D43-7E627B3E7582}TFb5ae2469-0bae-4978-b0e0-39dd046150ff9a115ede-a9c3cc5252b0</Template>
  <TotalTime>26</TotalTime>
  <Words>579</Words>
  <Application>Microsoft Office PowerPoint</Application>
  <PresentationFormat>Widescreen</PresentationFormat>
  <Paragraphs>139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Unicode MS</vt:lpstr>
      <vt:lpstr>Calibri</vt:lpstr>
      <vt:lpstr>Calibri Light</vt:lpstr>
      <vt:lpstr>Times New Roman</vt:lpstr>
      <vt:lpstr>Celestial</vt:lpstr>
      <vt:lpstr>Evolution of Time Series Models  AR → MA → ARMA → ARIMA → SARIMA  </vt:lpstr>
      <vt:lpstr>Problem</vt:lpstr>
      <vt:lpstr>AutoRegressive (AR) MODEL</vt:lpstr>
      <vt:lpstr>MA — Moving Average Model</vt:lpstr>
      <vt:lpstr>ARMA — Combining strengths</vt:lpstr>
      <vt:lpstr>The problem of stationarity </vt:lpstr>
      <vt:lpstr>ARIMA — Adding Trend Handling</vt:lpstr>
      <vt:lpstr>Why seasonality matters </vt:lpstr>
      <vt:lpstr>SARIMA — Final Evolution ⭐ </vt:lpstr>
      <vt:lpstr>Why SARIMA is used for Energy Forecasting </vt:lpstr>
      <vt:lpstr>Practical Example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Evolution of Time Series Models  AR → MA → ARMA → ARIMA → SARIMA</dc:title>
  <dc:creator>Admin</dc:creator>
  <cp:lastModifiedBy>Admin</cp:lastModifiedBy>
  <cp:revision>4</cp:revision>
  <dcterms:created xsi:type="dcterms:W3CDTF">2026-02-03T01:45:26Z</dcterms:created>
  <dcterms:modified xsi:type="dcterms:W3CDTF">2026-02-03T02:11:55Z</dcterms:modified>
</cp:coreProperties>
</file>